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A9BB5"/>
                </a:solidFill>
                <a:latin typeface="Calibri"/>
              </a:rPr>
              <a:t>DPCI · Atelier de Génie Logiciel n°19   ·   01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00800"/>
            <a:ext cx="941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8A9BB5"/>
                </a:solidFill>
                <a:latin typeface="Calibri"/>
              </a:rPr>
              <a:t>01 / 14</a:t>
            </a:r>
          </a:p>
        </p:txBody>
      </p:sp>
      <p:pic>
        <p:nvPicPr>
          <p:cNvPr id="5" name="Picture 4" descr="c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1055" y="0"/>
            <a:ext cx="512064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071055" y="0"/>
            <a:ext cx="73152" cy="6858000"/>
          </a:xfrm>
          <a:prstGeom prst="rect">
            <a:avLst/>
          </a:prstGeom>
          <a:solidFill>
            <a:srgbClr val="21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82296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1B8A6"/>
                </a:solidFill>
                <a:latin typeface="Montserrat"/>
              </a:rPr>
              <a:t>ATELIER DE GÉNIE LOGICIEL · SUJET N°19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60350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Montserrat"/>
              </a:rPr>
              <a:t>Digitalisation de la</a:t>
            </a:r>
          </a:p>
          <a:p>
            <a:pPr algn="l"/>
            <a:r>
              <a:rPr sz="3800" b="1" i="0">
                <a:solidFill>
                  <a:srgbClr val="FFFFFF"/>
                </a:solidFill>
                <a:latin typeface="Montserrat"/>
              </a:rPr>
              <a:t>gestion pharmaceutique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71800"/>
            <a:ext cx="5852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C9D6EA"/>
                </a:solidFill>
                <a:latin typeface="Calibri"/>
              </a:rPr>
              <a:t>Étude de la DPCI et conception d'une application web de gestion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343400"/>
            <a:ext cx="5760720" cy="13716"/>
          </a:xfrm>
          <a:prstGeom prst="rect">
            <a:avLst/>
          </a:prstGeom>
          <a:solidFill>
            <a:srgbClr val="2C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ontserrat"/>
              </a:rPr>
              <a:t>ALEX KONAN BOH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5943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A9B8D0"/>
                </a:solidFill>
                <a:latin typeface="Calibri"/>
              </a:rPr>
              <a:t>Institut Ivoirien de Technologie</a:t>
            </a:r>
          </a:p>
          <a:p>
            <a:pPr algn="l"/>
            <a:r>
              <a:rPr sz="1400" b="0" i="0">
                <a:solidFill>
                  <a:srgbClr val="A9B8D0"/>
                </a:solidFill>
                <a:latin typeface="Calibri"/>
              </a:rPr>
              <a:t>Licence 3 Computer Science · 2026-2027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solidFill>
            <a:srgbClr val="21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1B8A6"/>
                </a:solidFill>
                <a:latin typeface="Montserrat"/>
              </a:rPr>
              <a:t>CONTEXTE ET ENJEUX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01B33"/>
                </a:solidFill>
                <a:latin typeface="Montserrat"/>
              </a:rPr>
              <a:t>Le grossiste-répartiteur, maillon vital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DPCI · Atelier de Génie Logiciel n°19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00800"/>
            <a:ext cx="941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Calibri"/>
              </a:rPr>
              <a:t>02 / 14</a:t>
            </a:r>
          </a:p>
        </p:txBody>
      </p:sp>
      <p:pic>
        <p:nvPicPr>
          <p:cNvPr id="8" name="Picture 7" descr="c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645920"/>
            <a:ext cx="3931920" cy="457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1737360"/>
            <a:ext cx="6400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Calibri"/>
              </a:rPr>
              <a:t>Il achète auprès des laboratoires, stocke, puis livre les officines rapidement et en toute sécurité.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834640"/>
            <a:ext cx="3063240" cy="137160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108960"/>
            <a:ext cx="64008" cy="822960"/>
          </a:xfrm>
          <a:prstGeom prst="rect">
            <a:avLst/>
          </a:prstGeom>
          <a:solidFill>
            <a:srgbClr val="21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12724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01B33"/>
                </a:solidFill>
                <a:latin typeface="Montserrat"/>
              </a:rPr>
              <a:t>Stocks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56616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64748B"/>
                </a:solidFill>
                <a:latin typeface="Calibri"/>
              </a:rPr>
              <a:t>Disponibilité sans surstock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2834640"/>
            <a:ext cx="3063240" cy="137160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0" y="3108960"/>
            <a:ext cx="64008" cy="822960"/>
          </a:xfrm>
          <a:prstGeom prst="rect">
            <a:avLst/>
          </a:prstGeom>
          <a:solidFill>
            <a:srgbClr val="21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312724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01B33"/>
                </a:solidFill>
                <a:latin typeface="Montserrat"/>
              </a:rPr>
              <a:t>Commandes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56616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64748B"/>
                </a:solidFill>
                <a:latin typeface="Calibri"/>
              </a:rPr>
              <a:t>Traitement fiable et rapide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434840"/>
            <a:ext cx="3063240" cy="137160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4709159"/>
            <a:ext cx="64008" cy="822960"/>
          </a:xfrm>
          <a:prstGeom prst="rect">
            <a:avLst/>
          </a:prstGeom>
          <a:solidFill>
            <a:srgbClr val="21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472744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01B33"/>
                </a:solidFill>
                <a:latin typeface="Montserrat"/>
              </a:rPr>
              <a:t>Péremptions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166359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64748B"/>
                </a:solidFill>
                <a:latin typeface="Calibri"/>
              </a:rPr>
              <a:t>Aucun lot périmé expédié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0" y="4434840"/>
            <a:ext cx="3063240" cy="137160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0" y="4709159"/>
            <a:ext cx="64008" cy="822960"/>
          </a:xfrm>
          <a:prstGeom prst="rect">
            <a:avLst/>
          </a:prstGeom>
          <a:solidFill>
            <a:srgbClr val="21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472744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01B33"/>
                </a:solidFill>
                <a:latin typeface="Montserrat"/>
              </a:rPr>
              <a:t>Livraisons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5166359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64748B"/>
                </a:solidFill>
                <a:latin typeface="Calibri"/>
              </a:rPr>
              <a:t>Respect des tournées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solidFill>
            <a:srgbClr val="21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1B8A6"/>
                </a:solidFill>
                <a:latin typeface="Montserrat"/>
              </a:rPr>
              <a:t>PRÉSENTATION DE L'ENTREPRISE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01B33"/>
                </a:solidFill>
                <a:latin typeface="Montserrat"/>
              </a:rPr>
              <a:t>DPCI en bref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DPCI · Atelier de Génie Logiciel n°19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00800"/>
            <a:ext cx="941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Calibri"/>
              </a:rPr>
              <a:t>03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Calibri"/>
              </a:rPr>
              <a:t>Grossiste-répartiteur qui accompagne les pharmaciens sur l'ensemble de la Côte d'Ivoire.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377440"/>
            <a:ext cx="2468880" cy="2377440"/>
          </a:xfrm>
          <a:prstGeom prst="roundRect">
            <a:avLst>
              <a:gd name="adj" fmla="val 8000"/>
            </a:avLst>
          </a:prstGeom>
          <a:solidFill>
            <a:srgbClr val="10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60604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21B8A6"/>
                </a:solidFill>
                <a:latin typeface="Montserrat"/>
              </a:rPr>
              <a:t>2000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2044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ontserrat"/>
              </a:rPr>
              <a:t>Création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931920"/>
            <a:ext cx="2011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9D6EA"/>
                </a:solidFill>
                <a:latin typeface="Calibri"/>
              </a:rPr>
              <a:t>Début des activités le 24 novembre 2000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2377440"/>
            <a:ext cx="2468880" cy="237744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94760" y="260604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2457C5"/>
                </a:solidFill>
                <a:latin typeface="Montserrat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352044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01B33"/>
                </a:solidFill>
                <a:latin typeface="Montserrat"/>
              </a:rPr>
              <a:t>Implantations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3931920"/>
            <a:ext cx="2011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Abidjan, Bouaké, Daloa et San Pedro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377440"/>
            <a:ext cx="2468880" cy="237744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60604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2457C5"/>
                </a:solidFill>
                <a:latin typeface="Montserrat"/>
              </a:rPr>
              <a:t>2×/jour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52044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01B33"/>
                </a:solidFill>
                <a:latin typeface="Montserrat"/>
              </a:rPr>
              <a:t>Livraisons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931920"/>
            <a:ext cx="2011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Sur l'ensemble du territoire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15400" y="2377440"/>
            <a:ext cx="2468880" cy="237744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9720" y="260604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2457C5"/>
                </a:solidFill>
                <a:latin typeface="Montserrat"/>
              </a:rPr>
              <a:t>24h/24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352044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01B33"/>
                </a:solidFill>
                <a:latin typeface="Montserrat"/>
              </a:rPr>
              <a:t>Commandes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3931920"/>
            <a:ext cx="2011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Par extranet et PharmaML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074920"/>
            <a:ext cx="105613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521208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  <a:latin typeface="Calibri"/>
              </a:rPr>
              <a:t>Société anonyme · Siège : Treichville Zone 3, 31 Rue des Carrossiers, Abidjan</a:t>
            </a:r>
          </a:p>
          <a:p>
            <a:pPr algn="l"/>
            <a:r>
              <a:rPr sz="1400" b="0" i="0">
                <a:solidFill>
                  <a:srgbClr val="1E293B"/>
                </a:solidFill>
                <a:latin typeface="Calibri"/>
              </a:rPr>
              <a:t>Politique qualité : Décision UEMOA, service qualité dédié, accompagnement AFINHES CI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640080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Source : www2.dpci.ci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solidFill>
            <a:srgbClr val="21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1B8A6"/>
                </a:solidFill>
                <a:latin typeface="Montserrat"/>
              </a:rPr>
              <a:t>STRUCTURE DE LA DPCI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01B33"/>
                </a:solidFill>
                <a:latin typeface="Montserrat"/>
              </a:rPr>
              <a:t>Organisation et fonctionnement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DPCI · Atelier de Génie Logiciel n°19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00800"/>
            <a:ext cx="941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Calibri"/>
              </a:rPr>
              <a:t>04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1B8A6"/>
                </a:solidFill>
                <a:latin typeface="Montserrat"/>
              </a:rPr>
              <a:t>Gouvernance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148840"/>
            <a:ext cx="4846320" cy="502920"/>
          </a:xfrm>
          <a:prstGeom prst="roundRect">
            <a:avLst>
              <a:gd name="adj" fmla="val 8000"/>
            </a:avLst>
          </a:prstGeom>
          <a:solidFill>
            <a:srgbClr val="10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14884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Conseil d'Administration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788920"/>
            <a:ext cx="4846320" cy="502920"/>
          </a:xfrm>
          <a:prstGeom prst="roundRect">
            <a:avLst>
              <a:gd name="adj" fmla="val 8000"/>
            </a:avLst>
          </a:prstGeom>
          <a:solidFill>
            <a:srgbClr val="10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Direction Générale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429000"/>
            <a:ext cx="4846320" cy="50292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42900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01B33"/>
                </a:solidFill>
                <a:latin typeface="Calibri"/>
              </a:rPr>
              <a:t>Direction Commerciale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069079"/>
            <a:ext cx="4846320" cy="50292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069079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01B33"/>
                </a:solidFill>
                <a:latin typeface="Calibri"/>
              </a:rPr>
              <a:t>Direction des Achats et Approvisionnement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709160"/>
            <a:ext cx="4846320" cy="50292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70916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01B33"/>
                </a:solidFill>
                <a:latin typeface="Calibri"/>
              </a:rPr>
              <a:t>Direction d'Exploitation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349240"/>
            <a:ext cx="4846320" cy="50292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534924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01B33"/>
                </a:solidFill>
                <a:latin typeface="Calibri"/>
              </a:rPr>
              <a:t>Directions d'Agence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6916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1B8A6"/>
                </a:solidFill>
                <a:latin typeface="Montserrat"/>
              </a:rPr>
              <a:t>Fonctionnement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0" y="2240280"/>
            <a:ext cx="502920" cy="502920"/>
          </a:xfrm>
          <a:prstGeom prst="ellipse">
            <a:avLst/>
          </a:prstGeom>
          <a:solidFill>
            <a:srgbClr val="245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24028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33972" y="2788920"/>
            <a:ext cx="36576" cy="685800"/>
          </a:xfrm>
          <a:prstGeom prst="rect">
            <a:avLst/>
          </a:prstGeom>
          <a:solidFill>
            <a:srgbClr val="D9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0" y="21945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01B33"/>
                </a:solidFill>
                <a:latin typeface="Montserrat"/>
              </a:rPr>
              <a:t>Commande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2560320"/>
            <a:ext cx="4572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Extranet et PharmaML 24h/24, téléphone aux horaires d'ouverture</a:t>
            </a:r>
          </a:p>
        </p:txBody>
      </p:sp>
      <p:sp>
        <p:nvSpPr>
          <p:cNvPr id="27" name="Oval 26"/>
          <p:cNvSpPr/>
          <p:nvPr/>
        </p:nvSpPr>
        <p:spPr>
          <a:xfrm>
            <a:off x="6400800" y="3520440"/>
            <a:ext cx="502920" cy="502920"/>
          </a:xfrm>
          <a:prstGeom prst="ellipse">
            <a:avLst/>
          </a:prstGeom>
          <a:solidFill>
            <a:srgbClr val="245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5204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33972" y="4069080"/>
            <a:ext cx="36576" cy="685800"/>
          </a:xfrm>
          <a:prstGeom prst="rect">
            <a:avLst/>
          </a:prstGeom>
          <a:solidFill>
            <a:srgbClr val="D9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0" y="34747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01B33"/>
                </a:solidFill>
                <a:latin typeface="Montserrat"/>
              </a:rPr>
              <a:t>Traitement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3840480"/>
            <a:ext cx="4572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Traitement des commandes reçues</a:t>
            </a:r>
          </a:p>
        </p:txBody>
      </p:sp>
      <p:sp>
        <p:nvSpPr>
          <p:cNvPr id="32" name="Oval 31"/>
          <p:cNvSpPr/>
          <p:nvPr/>
        </p:nvSpPr>
        <p:spPr>
          <a:xfrm>
            <a:off x="6400800" y="4800600"/>
            <a:ext cx="502920" cy="502920"/>
          </a:xfrm>
          <a:prstGeom prst="ellipse">
            <a:avLst/>
          </a:prstGeom>
          <a:solidFill>
            <a:srgbClr val="245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48006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47548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01B33"/>
                </a:solidFill>
                <a:latin typeface="Montserrat"/>
              </a:rPr>
              <a:t>Livraison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5120640"/>
            <a:ext cx="4572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Matin : commandes de 12h à 20h30 la veille</a:t>
            </a:r>
          </a:p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Après-midi : de 20h30 à 12h30 le jour même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640080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Source : www2.dpci.ci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solidFill>
            <a:srgbClr val="21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1B8A6"/>
                </a:solidFill>
                <a:latin typeface="Montserrat"/>
              </a:rPr>
              <a:t>ANALYSE DU PROCESSUS MÉTIER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01B33"/>
                </a:solidFill>
                <a:latin typeface="Montserrat"/>
              </a:rPr>
              <a:t>Le parcours d'une commande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DPCI · Atelier de Génie Logiciel n°19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00800"/>
            <a:ext cx="941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Calibri"/>
              </a:rPr>
              <a:t>05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286000"/>
            <a:ext cx="1874519" cy="2103120"/>
          </a:xfrm>
          <a:prstGeom prst="roundRect">
            <a:avLst>
              <a:gd name="adj" fmla="val 8000"/>
            </a:avLst>
          </a:prstGeom>
          <a:solidFill>
            <a:srgbClr val="10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468880"/>
            <a:ext cx="457200" cy="457200"/>
          </a:xfrm>
          <a:prstGeom prst="ellipse">
            <a:avLst/>
          </a:prstGeom>
          <a:solidFill>
            <a:srgbClr val="21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4688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10896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ontserrat"/>
              </a:rPr>
              <a:t>Réception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520440"/>
            <a:ext cx="1554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9D6EA"/>
                </a:solidFill>
                <a:latin typeface="Calibri"/>
              </a:rPr>
              <a:t>Extranet, PharmaML, téléphone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715768" y="3200400"/>
            <a:ext cx="365760" cy="274320"/>
          </a:xfrm>
          <a:prstGeom prst="rightArrow">
            <a:avLst/>
          </a:prstGeom>
          <a:solidFill>
            <a:srgbClr val="21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108960" y="2286000"/>
            <a:ext cx="1874519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45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291840" y="2468880"/>
            <a:ext cx="457200" cy="457200"/>
          </a:xfrm>
          <a:prstGeom prst="ellipse">
            <a:avLst/>
          </a:prstGeom>
          <a:solidFill>
            <a:srgbClr val="245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24688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310896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01B33"/>
                </a:solidFill>
                <a:latin typeface="Montserrat"/>
              </a:rPr>
              <a:t>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3520440"/>
            <a:ext cx="1554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Contrôle client et disponibilité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001768" y="3200400"/>
            <a:ext cx="365760" cy="274320"/>
          </a:xfrm>
          <a:prstGeom prst="rightArrow">
            <a:avLst/>
          </a:prstGeom>
          <a:solidFill>
            <a:srgbClr val="21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394960" y="2286000"/>
            <a:ext cx="1874519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45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77840" y="2468880"/>
            <a:ext cx="457200" cy="457200"/>
          </a:xfrm>
          <a:prstGeom prst="ellipse">
            <a:avLst/>
          </a:prstGeom>
          <a:solidFill>
            <a:srgbClr val="245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77840" y="24688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310896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01B33"/>
                </a:solidFill>
                <a:latin typeface="Montserrat"/>
              </a:rPr>
              <a:t>Préparation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3520440"/>
            <a:ext cx="1554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Prélèvement des lots (FEFO)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287768" y="3200400"/>
            <a:ext cx="365760" cy="274320"/>
          </a:xfrm>
          <a:prstGeom prst="rightArrow">
            <a:avLst/>
          </a:prstGeom>
          <a:solidFill>
            <a:srgbClr val="21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680960" y="2286000"/>
            <a:ext cx="1874519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45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863840" y="2468880"/>
            <a:ext cx="457200" cy="457200"/>
          </a:xfrm>
          <a:prstGeom prst="ellipse">
            <a:avLst/>
          </a:prstGeom>
          <a:solidFill>
            <a:srgbClr val="245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24688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310896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01B33"/>
                </a:solidFill>
                <a:latin typeface="Montserrat"/>
              </a:rPr>
              <a:t>Contrôle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3520440"/>
            <a:ext cx="1554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Vérification avant expédition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9573768" y="3200400"/>
            <a:ext cx="365760" cy="274320"/>
          </a:xfrm>
          <a:prstGeom prst="rightArrow">
            <a:avLst/>
          </a:prstGeom>
          <a:solidFill>
            <a:srgbClr val="21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966960" y="2286000"/>
            <a:ext cx="1874519" cy="2103120"/>
          </a:xfrm>
          <a:prstGeom prst="roundRect">
            <a:avLst>
              <a:gd name="adj" fmla="val 8000"/>
            </a:avLst>
          </a:prstGeom>
          <a:solidFill>
            <a:srgbClr val="10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49840" y="2468880"/>
            <a:ext cx="457200" cy="457200"/>
          </a:xfrm>
          <a:prstGeom prst="ellipse">
            <a:avLst/>
          </a:prstGeom>
          <a:solidFill>
            <a:srgbClr val="21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49840" y="24688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49840" y="310896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ontserrat"/>
              </a:rPr>
              <a:t>Livraison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49840" y="3520440"/>
            <a:ext cx="1554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9D6EA"/>
                </a:solidFill>
                <a:latin typeface="Calibri"/>
              </a:rPr>
              <a:t>Tournée matin ou après-midi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" y="4937760"/>
            <a:ext cx="320040" cy="320040"/>
          </a:xfrm>
          <a:prstGeom prst="roundRect">
            <a:avLst>
              <a:gd name="adj" fmla="val 8000"/>
            </a:avLst>
          </a:prstGeom>
          <a:solidFill>
            <a:srgbClr val="10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80160" y="493776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Étape documentée par la DPCI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120640" y="4937760"/>
            <a:ext cx="320040" cy="320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45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577840" y="49377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Étape détaillée proposée pour l'application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5321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Le traitement documenté par la DPCI est découpé ici en validation, préparation et contrôle pour les besoins de la conception.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A9BB5"/>
                </a:solidFill>
                <a:latin typeface="Calibri"/>
              </a:rPr>
              <a:t>DPCI · Atelier de Génie Logiciel n°19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00800"/>
            <a:ext cx="941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8A9BB5"/>
                </a:solidFill>
                <a:latin typeface="Calibri"/>
              </a:rPr>
              <a:t>06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31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1B8A6"/>
                </a:solidFill>
                <a:latin typeface="Montserrat"/>
              </a:rPr>
              <a:t>PROBLÉMATIQUE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8016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ontserrat"/>
              </a:rPr>
              <a:t>Comment centraliser commandes, lots, dates de péremption et livraisons pour renforcer la traçabilité et réduire les erreurs et les pertes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840480"/>
            <a:ext cx="2468880" cy="2057400"/>
          </a:xfrm>
          <a:prstGeom prst="roundRect">
            <a:avLst>
              <a:gd name="adj" fmla="val 8000"/>
            </a:avLst>
          </a:prstGeom>
          <a:solidFill>
            <a:srgbClr val="1A2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" y="4069080"/>
            <a:ext cx="457200" cy="457200"/>
          </a:xfrm>
          <a:prstGeom prst="ellipse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0690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ontserrat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66344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ontserrat"/>
              </a:rPr>
              <a:t>Rupture de stock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074920"/>
            <a:ext cx="2011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A9B8D0"/>
                </a:solidFill>
                <a:latin typeface="Calibri"/>
              </a:rPr>
              <a:t>Produits indisponibles pour les officines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3840480"/>
            <a:ext cx="2468880" cy="2057400"/>
          </a:xfrm>
          <a:prstGeom prst="roundRect">
            <a:avLst>
              <a:gd name="adj" fmla="val 8000"/>
            </a:avLst>
          </a:prstGeom>
          <a:solidFill>
            <a:srgbClr val="1A2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794760" y="4069080"/>
            <a:ext cx="457200" cy="457200"/>
          </a:xfrm>
          <a:prstGeom prst="ellipse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94760" y="40690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ontserrat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466344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ontserrat"/>
              </a:rPr>
              <a:t>Péremption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5074920"/>
            <a:ext cx="2011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A9B8D0"/>
                </a:solidFill>
                <a:latin typeface="Calibri"/>
              </a:rPr>
              <a:t>Lots perdus ou expédiés hors délai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840480"/>
            <a:ext cx="2468880" cy="2057400"/>
          </a:xfrm>
          <a:prstGeom prst="roundRect">
            <a:avLst>
              <a:gd name="adj" fmla="val 8000"/>
            </a:avLst>
          </a:prstGeom>
          <a:solidFill>
            <a:srgbClr val="1A2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92240" y="4069080"/>
            <a:ext cx="457200" cy="457200"/>
          </a:xfrm>
          <a:prstGeom prst="ellipse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0690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ontserrat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66344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ontserrat"/>
              </a:rPr>
              <a:t>Erreur de picking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074920"/>
            <a:ext cx="2011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A9B8D0"/>
                </a:solidFill>
                <a:latin typeface="Calibri"/>
              </a:rPr>
              <a:t>Mauvais produit, quantité ou lot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15400" y="3840480"/>
            <a:ext cx="2468880" cy="2057400"/>
          </a:xfrm>
          <a:prstGeom prst="roundRect">
            <a:avLst>
              <a:gd name="adj" fmla="val 8000"/>
            </a:avLst>
          </a:prstGeom>
          <a:solidFill>
            <a:srgbClr val="1A2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89720" y="4069080"/>
            <a:ext cx="457200" cy="457200"/>
          </a:xfrm>
          <a:prstGeom prst="ellipse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9720" y="40690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ontserrat"/>
              </a:rPr>
              <a:t>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466344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ontserrat"/>
              </a:rPr>
              <a:t>Rappel de lot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5074920"/>
            <a:ext cx="2011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A9B8D0"/>
                </a:solidFill>
                <a:latin typeface="Calibri"/>
              </a:rPr>
              <a:t>Clients concernés difficiles à identifier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solidFill>
            <a:srgbClr val="21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1B8A6"/>
                </a:solidFill>
                <a:latin typeface="Montserrat"/>
              </a:rPr>
              <a:t>CE QUE L'APPLICATION DOIT PERMETTRE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01B33"/>
                </a:solidFill>
                <a:latin typeface="Montserrat"/>
              </a:rPr>
              <a:t>Objectifs du projet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DPCI · Atelier de Génie Logiciel n°19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00800"/>
            <a:ext cx="941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Calibri"/>
              </a:rPr>
              <a:t>07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91640"/>
            <a:ext cx="10561320" cy="1005840"/>
          </a:xfrm>
          <a:prstGeom prst="roundRect">
            <a:avLst>
              <a:gd name="adj" fmla="val 8000"/>
            </a:avLst>
          </a:prstGeom>
          <a:solidFill>
            <a:srgbClr val="10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691640"/>
            <a:ext cx="18288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1B8A6"/>
                </a:solidFill>
                <a:latin typeface="Montserrat"/>
              </a:rPr>
              <a:t>OBJECTIF</a:t>
            </a:r>
          </a:p>
          <a:p>
            <a:pPr algn="l"/>
            <a:r>
              <a:rPr sz="1200" b="1" i="0">
                <a:solidFill>
                  <a:srgbClr val="21B8A6"/>
                </a:solidFill>
                <a:latin typeface="Montserrat"/>
              </a:rPr>
              <a:t>GÉNÉRAL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1691640"/>
            <a:ext cx="83210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Concevoir une application web centralisée pour fiabiliser la gestion pharmaceutique de bout en bout.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63240"/>
            <a:ext cx="2468880" cy="123444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24612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457C5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6576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01B33"/>
                </a:solidFill>
                <a:latin typeface="Calibri"/>
              </a:rPr>
              <a:t>Centraliser les données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063240"/>
            <a:ext cx="2468880" cy="123444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94760" y="324612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457C5"/>
                </a:solidFill>
                <a:latin typeface="Montserrat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36576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01B33"/>
                </a:solidFill>
                <a:latin typeface="Calibri"/>
              </a:rPr>
              <a:t>Suivre les commandes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063240"/>
            <a:ext cx="2468880" cy="123444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24612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457C5"/>
                </a:solidFill>
                <a:latin typeface="Montserrat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6576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01B33"/>
                </a:solidFill>
                <a:latin typeface="Calibri"/>
              </a:rPr>
              <a:t>Contrôler les stocks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5400" y="3063240"/>
            <a:ext cx="2468880" cy="123444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20" y="324612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457C5"/>
                </a:solidFill>
                <a:latin typeface="Montserrat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36576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01B33"/>
                </a:solidFill>
                <a:latin typeface="Calibri"/>
              </a:rPr>
              <a:t>Déclencher des alertes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526280"/>
            <a:ext cx="2468880" cy="123444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70916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457C5"/>
                </a:solidFill>
                <a:latin typeface="Montserrat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12064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01B33"/>
                </a:solidFill>
                <a:latin typeface="Calibri"/>
              </a:rPr>
              <a:t>Assurer la traçabilité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20440" y="4526280"/>
            <a:ext cx="2468880" cy="123444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94760" y="470916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457C5"/>
                </a:solidFill>
                <a:latin typeface="Montserrat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512064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01B33"/>
                </a:solidFill>
                <a:latin typeface="Calibri"/>
              </a:rPr>
              <a:t>Préparer les livraisons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526280"/>
            <a:ext cx="2468880" cy="123444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70916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457C5"/>
                </a:solidFill>
                <a:latin typeface="Montserrat"/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12064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01B33"/>
                </a:solidFill>
                <a:latin typeface="Calibri"/>
              </a:rPr>
              <a:t>Produire des rapports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15400" y="4526280"/>
            <a:ext cx="2468880" cy="1234440"/>
          </a:xfrm>
          <a:prstGeom prst="roundRect">
            <a:avLst>
              <a:gd name="adj" fmla="val 8000"/>
            </a:avLst>
          </a:prstGeom>
          <a:solidFill>
            <a:srgbClr val="21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89720" y="4526280"/>
            <a:ext cx="201168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ontserrat"/>
              </a:rPr>
              <a:t>Objectifs spécifiques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solidFill>
            <a:srgbClr val="21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1B8A6"/>
                </a:solidFill>
                <a:latin typeface="Montserrat"/>
              </a:rPr>
              <a:t>SOLUTION PROPOSÉE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01B33"/>
                </a:solidFill>
                <a:latin typeface="Montserrat"/>
              </a:rPr>
              <a:t>Une application web centralisée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DPCI · Atelier de Génie Logiciel n°19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00800"/>
            <a:ext cx="941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Calibri"/>
              </a:rPr>
              <a:t>08 / 14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6099048" y="1920240"/>
            <a:ext cx="0" cy="1965960"/>
          </a:xfrm>
          <a:prstGeom prst="line">
            <a:avLst/>
          </a:prstGeom>
          <a:ln w="19050">
            <a:solidFill>
              <a:srgbClr val="D9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6099048" y="2380187"/>
            <a:ext cx="2527389" cy="1506013"/>
          </a:xfrm>
          <a:prstGeom prst="line">
            <a:avLst/>
          </a:prstGeom>
          <a:ln w="19050">
            <a:solidFill>
              <a:srgbClr val="D9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099048" y="3544814"/>
            <a:ext cx="3872185" cy="341386"/>
          </a:xfrm>
          <a:prstGeom prst="line">
            <a:avLst/>
          </a:prstGeom>
          <a:ln w="19050">
            <a:solidFill>
              <a:srgbClr val="D9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99048" y="3886200"/>
            <a:ext cx="3405142" cy="982979"/>
          </a:xfrm>
          <a:prstGeom prst="line">
            <a:avLst/>
          </a:prstGeom>
          <a:ln w="19050">
            <a:solidFill>
              <a:srgbClr val="D9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99048" y="3886200"/>
            <a:ext cx="1344795" cy="1847398"/>
          </a:xfrm>
          <a:prstGeom prst="line">
            <a:avLst/>
          </a:prstGeom>
          <a:ln w="19050">
            <a:solidFill>
              <a:srgbClr val="D9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4754252" y="3886200"/>
            <a:ext cx="1344796" cy="1847398"/>
          </a:xfrm>
          <a:prstGeom prst="line">
            <a:avLst/>
          </a:prstGeom>
          <a:ln w="19050">
            <a:solidFill>
              <a:srgbClr val="D9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693905" y="3886200"/>
            <a:ext cx="3405143" cy="982980"/>
          </a:xfrm>
          <a:prstGeom prst="line">
            <a:avLst/>
          </a:prstGeom>
          <a:ln w="19050">
            <a:solidFill>
              <a:srgbClr val="D9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2226862" y="3544814"/>
            <a:ext cx="3872186" cy="341386"/>
          </a:xfrm>
          <a:prstGeom prst="line">
            <a:avLst/>
          </a:prstGeom>
          <a:ln w="19050">
            <a:solidFill>
              <a:srgbClr val="D9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3571658" y="2380187"/>
            <a:ext cx="2527390" cy="1506013"/>
          </a:xfrm>
          <a:prstGeom prst="line">
            <a:avLst/>
          </a:prstGeom>
          <a:ln w="19050">
            <a:solidFill>
              <a:srgbClr val="D9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864608" y="3337560"/>
            <a:ext cx="2468880" cy="1097280"/>
          </a:xfrm>
          <a:prstGeom prst="roundRect">
            <a:avLst>
              <a:gd name="adj" fmla="val 8000"/>
            </a:avLst>
          </a:prstGeom>
          <a:solidFill>
            <a:srgbClr val="10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64608" y="3337560"/>
            <a:ext cx="24688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ontserrat"/>
              </a:rPr>
              <a:t>Base de données</a:t>
            </a:r>
          </a:p>
          <a:p>
            <a:pPr algn="ctr"/>
            <a:r>
              <a:rPr sz="1500" b="1" i="0">
                <a:solidFill>
                  <a:srgbClr val="FFFFFF"/>
                </a:solidFill>
                <a:latin typeface="Montserrat"/>
              </a:rPr>
              <a:t>centralisée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30368" y="1645920"/>
            <a:ext cx="173736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45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30368" y="164592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01B33"/>
                </a:solidFill>
                <a:latin typeface="Calibri"/>
              </a:rPr>
              <a:t>Utilisateurs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57757" y="2105867"/>
            <a:ext cx="173736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45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57757" y="2105867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01B33"/>
                </a:solidFill>
                <a:latin typeface="Calibri"/>
              </a:rPr>
              <a:t>Produits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02553" y="3270494"/>
            <a:ext cx="173736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45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02553" y="3270494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01B33"/>
                </a:solidFill>
                <a:latin typeface="Calibri"/>
              </a:rPr>
              <a:t>Clients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35510" y="4594859"/>
            <a:ext cx="173736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45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35510" y="4594859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01B33"/>
                </a:solidFill>
                <a:latin typeface="Calibri"/>
              </a:rPr>
              <a:t>Fournisseurs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75163" y="5459278"/>
            <a:ext cx="173736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45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75163" y="5459278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01B33"/>
                </a:solidFill>
                <a:latin typeface="Calibri"/>
              </a:rPr>
              <a:t>Commandes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85572" y="5459278"/>
            <a:ext cx="173736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45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85572" y="5459278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01B33"/>
                </a:solidFill>
                <a:latin typeface="Calibri"/>
              </a:rPr>
              <a:t>Lots et stocks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25225" y="4594860"/>
            <a:ext cx="173736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45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25225" y="459486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01B33"/>
                </a:solidFill>
                <a:latin typeface="Calibri"/>
              </a:rPr>
              <a:t>Traçabilité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358182" y="3270494"/>
            <a:ext cx="173736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45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58182" y="3270494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01B33"/>
                </a:solidFill>
                <a:latin typeface="Calibri"/>
              </a:rPr>
              <a:t>Livraisons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02978" y="2105867"/>
            <a:ext cx="173736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45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02978" y="2105867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01B33"/>
                </a:solidFill>
                <a:latin typeface="Calibri"/>
              </a:rPr>
              <a:t>Tableaux de bord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solidFill>
            <a:srgbClr val="21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1B8A6"/>
                </a:solidFill>
                <a:latin typeface="Montserrat"/>
              </a:rPr>
              <a:t>SYSTÈME À CONCEVOIR ET DÉVELOPPER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01B33"/>
                </a:solidFill>
                <a:latin typeface="Montserrat"/>
              </a:rPr>
              <a:t>Fonctionnalités principales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DPCI · Atelier de Génie Logiciel n°19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00800"/>
            <a:ext cx="941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Calibri"/>
              </a:rPr>
              <a:t>09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37360"/>
            <a:ext cx="2468880" cy="201168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737360"/>
            <a:ext cx="2468880" cy="82296"/>
          </a:xfrm>
          <a:prstGeom prst="rect">
            <a:avLst/>
          </a:prstGeom>
          <a:solidFill>
            <a:srgbClr val="245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" y="2057400"/>
            <a:ext cx="457200" cy="457200"/>
          </a:xfrm>
          <a:prstGeom prst="ellipse">
            <a:avLst/>
          </a:prstGeom>
          <a:solidFill>
            <a:srgbClr val="245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0574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6517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01B33"/>
                </a:solidFill>
                <a:latin typeface="Montserrat"/>
              </a:rPr>
              <a:t>Référentiel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035808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Produits, clients et fournisseurs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1737360"/>
            <a:ext cx="2468880" cy="201168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1737360"/>
            <a:ext cx="2468880" cy="82296"/>
          </a:xfrm>
          <a:prstGeom prst="rect">
            <a:avLst/>
          </a:prstGeom>
          <a:solidFill>
            <a:srgbClr val="21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94760" y="2057400"/>
            <a:ext cx="457200" cy="457200"/>
          </a:xfrm>
          <a:prstGeom prst="ellipse">
            <a:avLst/>
          </a:prstGeom>
          <a:solidFill>
            <a:srgbClr val="21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4760" y="20574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6517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01B33"/>
                </a:solidFill>
                <a:latin typeface="Montserrat"/>
              </a:rPr>
              <a:t>Commandes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3035808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Création, validation, suivi des statuts et reliquats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737360"/>
            <a:ext cx="2468880" cy="201168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1737360"/>
            <a:ext cx="2468880" cy="82296"/>
          </a:xfrm>
          <a:prstGeom prst="rect">
            <a:avLst/>
          </a:prstGeom>
          <a:solidFill>
            <a:srgbClr val="245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245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6517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01B33"/>
                </a:solidFill>
                <a:latin typeface="Montserrat"/>
              </a:rPr>
              <a:t>Lots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035808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Stock par lot et dates de péremption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15400" y="1737360"/>
            <a:ext cx="2468880" cy="201168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15400" y="1737360"/>
            <a:ext cx="2468880" cy="82296"/>
          </a:xfrm>
          <a:prstGeom prst="rect">
            <a:avLst/>
          </a:prstGeom>
          <a:solidFill>
            <a:srgbClr val="21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89720" y="2057400"/>
            <a:ext cx="457200" cy="457200"/>
          </a:xfrm>
          <a:prstGeom prst="ellipse">
            <a:avLst/>
          </a:prstGeom>
          <a:solidFill>
            <a:srgbClr val="21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89720" y="20574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26517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01B33"/>
                </a:solidFill>
                <a:latin typeface="Montserrat"/>
              </a:rPr>
              <a:t>Alertes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3035808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Stock minimal et péremption proche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171700" y="3977639"/>
            <a:ext cx="2468880" cy="201168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171700" y="3977639"/>
            <a:ext cx="2468880" cy="82296"/>
          </a:xfrm>
          <a:prstGeom prst="rect">
            <a:avLst/>
          </a:prstGeom>
          <a:solidFill>
            <a:srgbClr val="245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446020" y="4297679"/>
            <a:ext cx="457200" cy="457200"/>
          </a:xfrm>
          <a:prstGeom prst="ellipse">
            <a:avLst/>
          </a:prstGeom>
          <a:solidFill>
            <a:srgbClr val="245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46020" y="4297679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46020" y="489204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01B33"/>
                </a:solidFill>
                <a:latin typeface="Montserrat"/>
              </a:rPr>
              <a:t>Traçabilité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46020" y="5276088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Historique d'un lot et rappel de lots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69180" y="3977639"/>
            <a:ext cx="2468880" cy="201168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869180" y="3977639"/>
            <a:ext cx="2468880" cy="82296"/>
          </a:xfrm>
          <a:prstGeom prst="rect">
            <a:avLst/>
          </a:prstGeom>
          <a:solidFill>
            <a:srgbClr val="21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143500" y="4297679"/>
            <a:ext cx="457200" cy="457200"/>
          </a:xfrm>
          <a:prstGeom prst="ellipse">
            <a:avLst/>
          </a:prstGeom>
          <a:solidFill>
            <a:srgbClr val="21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43500" y="4297679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43500" y="489204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01B33"/>
                </a:solidFill>
                <a:latin typeface="Montserrat"/>
              </a:rPr>
              <a:t>Livraisons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43500" y="5276088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Bons de préparation et de livraison, suivi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566660" y="3977639"/>
            <a:ext cx="2468880" cy="201168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66660" y="3977639"/>
            <a:ext cx="2468880" cy="82296"/>
          </a:xfrm>
          <a:prstGeom prst="rect">
            <a:avLst/>
          </a:prstGeom>
          <a:solidFill>
            <a:srgbClr val="245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840980" y="4297679"/>
            <a:ext cx="457200" cy="457200"/>
          </a:xfrm>
          <a:prstGeom prst="ellipse">
            <a:avLst/>
          </a:prstGeom>
          <a:solidFill>
            <a:srgbClr val="245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40980" y="4297679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40980" y="489204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01B33"/>
                </a:solidFill>
                <a:latin typeface="Montserrat"/>
              </a:rPr>
              <a:t>Utilisateurs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40980" y="5276088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Rôles et droits d'accès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solidFill>
            <a:srgbClr val="21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1B8A6"/>
                </a:solidFill>
                <a:latin typeface="Montserrat"/>
              </a:rPr>
              <a:t>GESTION INTELLIGENTE DES STOCKS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01B33"/>
                </a:solidFill>
                <a:latin typeface="Montserrat"/>
              </a:rPr>
              <a:t>FEFO : First Expired, First 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DPCI · Atelier de Génie Logiciel n°19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00800"/>
            <a:ext cx="941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Calibri"/>
              </a:rPr>
              <a:t>10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Calibri"/>
              </a:rPr>
              <a:t>Parmi les lots valides, celui dont la péremption est la plus proche est prélevé en premier.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468880"/>
            <a:ext cx="246888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4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468880"/>
            <a:ext cx="2468880" cy="457200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46888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ontserrat"/>
              </a:rPr>
              <a:t>PÉRIMÉ · BLOQUÉ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1546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01B33"/>
                </a:solidFill>
                <a:latin typeface="Montserrat"/>
              </a:rPr>
              <a:t>Lot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65760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Péremption : 03/2026</a:t>
            </a:r>
          </a:p>
        </p:txBody>
      </p:sp>
      <p:sp>
        <p:nvSpPr>
          <p:cNvPr id="14" name="Oval 13"/>
          <p:cNvSpPr/>
          <p:nvPr/>
        </p:nvSpPr>
        <p:spPr>
          <a:xfrm>
            <a:off x="1737360" y="4114800"/>
            <a:ext cx="640080" cy="640080"/>
          </a:xfrm>
          <a:prstGeom prst="ellipse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37360" y="41148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ontserrat"/>
              </a:rPr>
              <a:t>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20440" y="2468880"/>
            <a:ext cx="246888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1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20440" y="2468880"/>
            <a:ext cx="2468880" cy="457200"/>
          </a:xfrm>
          <a:prstGeom prst="rect">
            <a:avLst/>
          </a:prstGeom>
          <a:solidFill>
            <a:srgbClr val="21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0440" y="246888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ontserrat"/>
              </a:rPr>
              <a:t>1er prélevé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31546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01B33"/>
                </a:solidFill>
                <a:latin typeface="Montserrat"/>
              </a:rPr>
              <a:t>Lot 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365760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Péremption : 01/2027</a:t>
            </a:r>
          </a:p>
        </p:txBody>
      </p:sp>
      <p:sp>
        <p:nvSpPr>
          <p:cNvPr id="21" name="Oval 20"/>
          <p:cNvSpPr/>
          <p:nvPr/>
        </p:nvSpPr>
        <p:spPr>
          <a:xfrm>
            <a:off x="4434840" y="4114800"/>
            <a:ext cx="640080" cy="640080"/>
          </a:xfrm>
          <a:prstGeom prst="ellipse">
            <a:avLst/>
          </a:prstGeom>
          <a:solidFill>
            <a:srgbClr val="21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41148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468880"/>
            <a:ext cx="246888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45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2468880"/>
            <a:ext cx="2468880" cy="457200"/>
          </a:xfrm>
          <a:prstGeom prst="rect">
            <a:avLst/>
          </a:prstGeom>
          <a:solidFill>
            <a:srgbClr val="245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246888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ontserrat"/>
              </a:rPr>
              <a:t>2e prélevé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1546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01B33"/>
                </a:solidFill>
                <a:latin typeface="Montserrat"/>
              </a:rPr>
              <a:t>Lot 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65760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Péremption : 06/2027</a:t>
            </a:r>
          </a:p>
        </p:txBody>
      </p:sp>
      <p:sp>
        <p:nvSpPr>
          <p:cNvPr id="28" name="Oval 27"/>
          <p:cNvSpPr/>
          <p:nvPr/>
        </p:nvSpPr>
        <p:spPr>
          <a:xfrm>
            <a:off x="7132320" y="4114800"/>
            <a:ext cx="640080" cy="640080"/>
          </a:xfrm>
          <a:prstGeom prst="ellipse">
            <a:avLst/>
          </a:prstGeom>
          <a:solidFill>
            <a:srgbClr val="245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0" y="41148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15400" y="2468880"/>
            <a:ext cx="246888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7B8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915400" y="2468880"/>
            <a:ext cx="2468880" cy="457200"/>
          </a:xfrm>
          <a:prstGeom prst="rect">
            <a:avLst/>
          </a:prstGeom>
          <a:solidFill>
            <a:srgbClr val="7B8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15400" y="246888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ontserrat"/>
              </a:rPr>
              <a:t>3e prélevé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20" y="31546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01B33"/>
                </a:solidFill>
                <a:latin typeface="Montserrat"/>
              </a:rPr>
              <a:t>Lot 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365760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Péremption : 12/2027</a:t>
            </a:r>
          </a:p>
        </p:txBody>
      </p:sp>
      <p:sp>
        <p:nvSpPr>
          <p:cNvPr id="35" name="Oval 34"/>
          <p:cNvSpPr/>
          <p:nvPr/>
        </p:nvSpPr>
        <p:spPr>
          <a:xfrm>
            <a:off x="9829800" y="4114800"/>
            <a:ext cx="640080" cy="640080"/>
          </a:xfrm>
          <a:prstGeom prst="ellipse">
            <a:avLst/>
          </a:prstGeom>
          <a:solidFill>
            <a:srgbClr val="7B8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29800" y="41148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3520440" y="5166360"/>
            <a:ext cx="7863840" cy="292608"/>
          </a:xfrm>
          <a:prstGeom prst="rightArrow">
            <a:avLst/>
          </a:prstGeom>
          <a:solidFill>
            <a:srgbClr val="21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20440" y="5532120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E293B"/>
                </a:solidFill>
                <a:latin typeface="Calibri"/>
              </a:rPr>
              <a:t>Ordre de prélèvement : date de péremption croissante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120640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D64545"/>
                </a:solidFill>
                <a:latin typeface="Calibri"/>
              </a:rPr>
              <a:t>Lot périmé exclu automatiquement du prélèvement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59893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Dates fictives, à titre d'illustration.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solidFill>
            <a:srgbClr val="21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1B8A6"/>
                </a:solidFill>
                <a:latin typeface="Montserrat"/>
              </a:rPr>
              <a:t>SUIVRE CHAQUE LOT, CONTRÔLER CHAQUE ACCÈS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01B33"/>
                </a:solidFill>
                <a:latin typeface="Montserrat"/>
              </a:rPr>
              <a:t>Traçabilité et sécurité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DPCI · Atelier de Génie Logiciel n°19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00800"/>
            <a:ext cx="941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Calibri"/>
              </a:rPr>
              <a:t>11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1554480" cy="1097280"/>
          </a:xfrm>
          <a:prstGeom prst="roundRect">
            <a:avLst>
              <a:gd name="adj" fmla="val 8000"/>
            </a:avLst>
          </a:prstGeom>
          <a:solidFill>
            <a:srgbClr val="10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Réception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395728" y="2258568"/>
            <a:ext cx="237744" cy="237744"/>
          </a:xfrm>
          <a:prstGeom prst="rightArrow">
            <a:avLst/>
          </a:prstGeom>
          <a:solidFill>
            <a:srgbClr val="21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651760" y="1828800"/>
            <a:ext cx="1554480" cy="1097280"/>
          </a:xfrm>
          <a:prstGeom prst="roundRect">
            <a:avLst>
              <a:gd name="adj" fmla="val 8000"/>
            </a:avLst>
          </a:prstGeom>
          <a:solidFill>
            <a:srgbClr val="245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1828800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Entrée en stock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224528" y="2258568"/>
            <a:ext cx="237744" cy="237744"/>
          </a:xfrm>
          <a:prstGeom prst="rightArrow">
            <a:avLst/>
          </a:prstGeom>
          <a:solidFill>
            <a:srgbClr val="21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80560" y="1828800"/>
            <a:ext cx="1554480" cy="1097280"/>
          </a:xfrm>
          <a:prstGeom prst="roundRect">
            <a:avLst>
              <a:gd name="adj" fmla="val 8000"/>
            </a:avLst>
          </a:prstGeom>
          <a:solidFill>
            <a:srgbClr val="10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828800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Mouvements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053328" y="2258568"/>
            <a:ext cx="237744" cy="237744"/>
          </a:xfrm>
          <a:prstGeom prst="rightArrow">
            <a:avLst/>
          </a:prstGeom>
          <a:solidFill>
            <a:srgbClr val="21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1828800"/>
            <a:ext cx="1554480" cy="1097280"/>
          </a:xfrm>
          <a:prstGeom prst="roundRect">
            <a:avLst>
              <a:gd name="adj" fmla="val 8000"/>
            </a:avLst>
          </a:prstGeom>
          <a:solidFill>
            <a:srgbClr val="245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828800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Préparation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882128" y="2258568"/>
            <a:ext cx="237744" cy="237744"/>
          </a:xfrm>
          <a:prstGeom prst="rightArrow">
            <a:avLst/>
          </a:prstGeom>
          <a:solidFill>
            <a:srgbClr val="21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38160" y="1828800"/>
            <a:ext cx="1554480" cy="1097280"/>
          </a:xfrm>
          <a:prstGeom prst="roundRect">
            <a:avLst>
              <a:gd name="adj" fmla="val 8000"/>
            </a:avLst>
          </a:prstGeom>
          <a:solidFill>
            <a:srgbClr val="10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828800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Livraison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710928" y="2258568"/>
            <a:ext cx="237744" cy="237744"/>
          </a:xfrm>
          <a:prstGeom prst="rightArrow">
            <a:avLst/>
          </a:prstGeom>
          <a:solidFill>
            <a:srgbClr val="21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966960" y="1828800"/>
            <a:ext cx="1554480" cy="1097280"/>
          </a:xfrm>
          <a:prstGeom prst="roundRect">
            <a:avLst>
              <a:gd name="adj" fmla="val 8000"/>
            </a:avLst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0" y="1828800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Rappel de lot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0632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"/>
              </a:rPr>
              <a:t>En cas de rappel : identification immédiate des clients ayant reçu le lot concerné.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3749039"/>
            <a:ext cx="5120640" cy="228600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39319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01B33"/>
                </a:solidFill>
                <a:latin typeface="Montserrat"/>
              </a:rPr>
              <a:t>Rôles et droits d'accès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389120"/>
            <a:ext cx="45720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  <a:latin typeface="Calibri"/>
              </a:rPr>
              <a:t>Administrateur · Commercial</a:t>
            </a:r>
          </a:p>
          <a:p>
            <a:pPr algn="l"/>
            <a:r>
              <a:rPr sz="1400" b="0" i="0">
                <a:solidFill>
                  <a:srgbClr val="1E293B"/>
                </a:solidFill>
                <a:latin typeface="Calibri"/>
              </a:rPr>
              <a:t>Magasinier · Livreur · Direction</a:t>
            </a:r>
          </a:p>
          <a:p>
            <a:pPr algn="l"/>
            <a:r>
              <a:rPr sz="1400" b="0" i="0">
                <a:solidFill>
                  <a:srgbClr val="1E293B"/>
                </a:solidFill>
                <a:latin typeface="Calibri"/>
              </a:rPr>
              <a:t>Chacun n'accède qu'à ses fonctions.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3749039"/>
            <a:ext cx="5120640" cy="228600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39319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01B33"/>
                </a:solidFill>
                <a:latin typeface="Montserrat"/>
              </a:rPr>
              <a:t>Historique des opérations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4389120"/>
            <a:ext cx="45720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  <a:latin typeface="Calibri"/>
              </a:rPr>
              <a:t>Qui ? Quoi ? Quand ?</a:t>
            </a:r>
          </a:p>
          <a:p>
            <a:pPr algn="l"/>
            <a:r>
              <a:rPr sz="1400" b="0" i="0">
                <a:solidFill>
                  <a:srgbClr val="1E293B"/>
                </a:solidFill>
                <a:latin typeface="Calibri"/>
              </a:rPr>
              <a:t>Chaque action est horodatée et attribuée</a:t>
            </a:r>
          </a:p>
          <a:p>
            <a:pPr algn="l"/>
            <a:r>
              <a:rPr sz="1400" b="0" i="0">
                <a:solidFill>
                  <a:srgbClr val="1E293B"/>
                </a:solidFill>
                <a:latin typeface="Calibri"/>
              </a:rPr>
              <a:t>à un utilisateur.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6080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Rôles proposés pour la conception.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solidFill>
            <a:srgbClr val="21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1B8A6"/>
                </a:solidFill>
                <a:latin typeface="Montserrat"/>
              </a:rPr>
              <a:t>CHOIX TECHNOLOGIQUES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01B33"/>
                </a:solidFill>
                <a:latin typeface="Montserrat"/>
              </a:rPr>
              <a:t>Architecture technique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DPCI · Atelier de Génie Logiciel n°19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00800"/>
            <a:ext cx="941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Calibri"/>
              </a:rPr>
              <a:t>12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20240"/>
            <a:ext cx="2103120" cy="2194560"/>
          </a:xfrm>
          <a:prstGeom prst="roundRect">
            <a:avLst>
              <a:gd name="adj" fmla="val 8000"/>
            </a:avLst>
          </a:prstGeom>
          <a:solidFill>
            <a:srgbClr val="245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4884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Montserrat"/>
              </a:rPr>
              <a:t>Interface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3464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HTML · CSS · JavaScript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Responsive</a:t>
            </a:r>
          </a:p>
        </p:txBody>
      </p:sp>
      <p:sp>
        <p:nvSpPr>
          <p:cNvPr id="11" name="Left-Right Arrow 10"/>
          <p:cNvSpPr/>
          <p:nvPr/>
        </p:nvSpPr>
        <p:spPr>
          <a:xfrm>
            <a:off x="2971800" y="2697480"/>
            <a:ext cx="457200" cy="228600"/>
          </a:xfrm>
          <a:prstGeom prst="leftRightArrow">
            <a:avLst/>
          </a:prstGeom>
          <a:solidFill>
            <a:srgbClr val="7B8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74720" y="1920240"/>
            <a:ext cx="2103120" cy="2194560"/>
          </a:xfrm>
          <a:prstGeom prst="roundRect">
            <a:avLst>
              <a:gd name="adj" fmla="val 8000"/>
            </a:avLst>
          </a:prstGeom>
          <a:solidFill>
            <a:srgbClr val="10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214884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Montserrat"/>
              </a:rPr>
              <a:t>Serveur Django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83464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Python · logique métier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FEFO, alertes, droits</a:t>
            </a:r>
          </a:p>
        </p:txBody>
      </p:sp>
      <p:sp>
        <p:nvSpPr>
          <p:cNvPr id="15" name="Left-Right Arrow 14"/>
          <p:cNvSpPr/>
          <p:nvPr/>
        </p:nvSpPr>
        <p:spPr>
          <a:xfrm>
            <a:off x="5623560" y="2697480"/>
            <a:ext cx="457200" cy="228600"/>
          </a:xfrm>
          <a:prstGeom prst="leftRightArrow">
            <a:avLst/>
          </a:prstGeom>
          <a:solidFill>
            <a:srgbClr val="7B8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26480" y="1920240"/>
            <a:ext cx="2103120" cy="2194560"/>
          </a:xfrm>
          <a:prstGeom prst="roundRect">
            <a:avLst>
              <a:gd name="adj" fmla="val 8000"/>
            </a:avLst>
          </a:prstGeom>
          <a:solidFill>
            <a:srgbClr val="21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214884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Montserrat"/>
              </a:rPr>
              <a:t>PostgreSQL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83464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Base de données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relationnelle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2976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Requêtes HTTP ⇄ réponses HTML / JSON      ORM ⇄ requêtes SQL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1920240"/>
            <a:ext cx="2606040" cy="73152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0" y="199339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1B8A6"/>
                </a:solidFill>
                <a:latin typeface="Montserrat"/>
              </a:rPr>
              <a:t>Modélisation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226771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UML : cas d'utilisation, classes, séquences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78240" y="2788920"/>
            <a:ext cx="2606040" cy="73152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0" y="286207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1B8A6"/>
                </a:solidFill>
                <a:latin typeface="Montserrat"/>
              </a:rPr>
              <a:t>Versions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3136391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Git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78240" y="3657600"/>
            <a:ext cx="2606040" cy="73152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0" y="373075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1B8A6"/>
                </a:solidFill>
                <a:latin typeface="Montserrat"/>
              </a:rPr>
              <a:t>Qualité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400507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Tests unitaires et fonctionnels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78240" y="4526279"/>
            <a:ext cx="2606040" cy="73152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0" y="4599431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1B8A6"/>
                </a:solidFill>
                <a:latin typeface="Montserrat"/>
              </a:rPr>
              <a:t>Méthode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4873751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Itérations courtes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4937760"/>
            <a:ext cx="7589520" cy="100584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4937760"/>
            <a:ext cx="713232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  <a:latin typeface="Calibri"/>
              </a:rPr>
              <a:t>Architecture MVT de Django : modèles, vues et templates séparés pour un code maintenable.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solidFill>
            <a:srgbClr val="21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1B8A6"/>
                </a:solidFill>
                <a:latin typeface="Montserrat"/>
              </a:rPr>
              <a:t>13 SEMAINES INDICATIVES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01B33"/>
                </a:solidFill>
                <a:latin typeface="Montserrat"/>
              </a:rPr>
              <a:t>Planning et démarche de réalisation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DPCI · Atelier de Génie Logiciel n°19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00800"/>
            <a:ext cx="941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Calibri"/>
              </a:rPr>
              <a:t>13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246120"/>
            <a:ext cx="10561320" cy="54864"/>
          </a:xfrm>
          <a:prstGeom prst="rect">
            <a:avLst/>
          </a:prstGeom>
          <a:solidFill>
            <a:srgbClr val="D9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0392" y="2926080"/>
            <a:ext cx="757545" cy="685800"/>
          </a:xfrm>
          <a:prstGeom prst="roundRect">
            <a:avLst>
              <a:gd name="adj" fmla="val 8000"/>
            </a:avLst>
          </a:prstGeom>
          <a:solidFill>
            <a:srgbClr val="245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926080"/>
            <a:ext cx="757545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ontserrat"/>
              </a:rPr>
              <a:t>1 sem.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78308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01B33"/>
                </a:solidFill>
                <a:latin typeface="Montserrat"/>
              </a:rPr>
              <a:t>1. Besoins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14884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Visite DPCI, validation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62801" y="2926080"/>
            <a:ext cx="1569954" cy="685800"/>
          </a:xfrm>
          <a:prstGeom prst="roundRect">
            <a:avLst>
              <a:gd name="adj" fmla="val 8000"/>
            </a:avLst>
          </a:prstGeom>
          <a:solidFill>
            <a:srgbClr val="21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62801" y="2926080"/>
            <a:ext cx="1569954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ontserrat"/>
              </a:rPr>
              <a:t>2 sem.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35369" y="384048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01B33"/>
                </a:solidFill>
                <a:latin typeface="Montserrat"/>
              </a:rPr>
              <a:t>2. Conception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35369" y="420624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UML, modèle de données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87619" y="2926080"/>
            <a:ext cx="2382363" cy="685800"/>
          </a:xfrm>
          <a:prstGeom prst="roundRect">
            <a:avLst>
              <a:gd name="adj" fmla="val 8000"/>
            </a:avLst>
          </a:prstGeom>
          <a:solidFill>
            <a:srgbClr val="10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87619" y="2926080"/>
            <a:ext cx="2382363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ontserrat"/>
              </a:rPr>
              <a:t>3 sem.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60187" y="1783080"/>
            <a:ext cx="243722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01B33"/>
                </a:solidFill>
                <a:latin typeface="Montserrat"/>
              </a:rPr>
              <a:t>3. Dév. socle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60187" y="2148840"/>
            <a:ext cx="243722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Produits, clients, lots, stock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24847" y="2926080"/>
            <a:ext cx="2382363" cy="685800"/>
          </a:xfrm>
          <a:prstGeom prst="roundRect">
            <a:avLst>
              <a:gd name="adj" fmla="val 8000"/>
            </a:avLst>
          </a:prstGeom>
          <a:solidFill>
            <a:srgbClr val="245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4847" y="2926080"/>
            <a:ext cx="2382363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ontserrat"/>
              </a:rPr>
              <a:t>3 sem.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97415" y="3840480"/>
            <a:ext cx="243722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01B33"/>
                </a:solidFill>
                <a:latin typeface="Montserrat"/>
              </a:rPr>
              <a:t>4. Dév. flux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97415" y="4206240"/>
            <a:ext cx="243722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Commandes, FEFO, livraisons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62075" y="2926080"/>
            <a:ext cx="1569954" cy="685800"/>
          </a:xfrm>
          <a:prstGeom prst="roundRect">
            <a:avLst>
              <a:gd name="adj" fmla="val 8000"/>
            </a:avLst>
          </a:prstGeom>
          <a:solidFill>
            <a:srgbClr val="21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62075" y="2926080"/>
            <a:ext cx="1569954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ontserrat"/>
              </a:rPr>
              <a:t>2 sem.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4643" y="178308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01B33"/>
                </a:solidFill>
                <a:latin typeface="Montserrat"/>
              </a:rPr>
              <a:t>5. Pilotage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4643" y="214884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Traçabilité, alertes, tableaux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86893" y="2926080"/>
            <a:ext cx="1569954" cy="685800"/>
          </a:xfrm>
          <a:prstGeom prst="roundRect">
            <a:avLst>
              <a:gd name="adj" fmla="val 8000"/>
            </a:avLst>
          </a:prstGeom>
          <a:solidFill>
            <a:srgbClr val="10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86893" y="2926080"/>
            <a:ext cx="1569954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ontserrat"/>
              </a:rPr>
              <a:t>2 sem.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59461" y="384048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01B33"/>
                </a:solidFill>
                <a:latin typeface="Montserrat"/>
              </a:rPr>
              <a:t>6. Clôture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59461" y="420624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Tests, documentation, soutenance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303520"/>
            <a:ext cx="10561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200" b="1" i="0">
                <a:solidFill>
                  <a:srgbClr val="2457C5"/>
                </a:solidFill>
                <a:latin typeface="Montserrat"/>
              </a:rPr>
              <a:t>Total indicatif : 13 semaines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A9BB5"/>
                </a:solidFill>
                <a:latin typeface="Calibri"/>
              </a:rPr>
              <a:t>DPCI · Atelier de Génie Logiciel n°19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00800"/>
            <a:ext cx="941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8A9BB5"/>
                </a:solidFill>
                <a:latin typeface="Calibri"/>
              </a:rPr>
              <a:t>14 / 14</a:t>
            </a:r>
          </a:p>
        </p:txBody>
      </p:sp>
      <p:pic>
        <p:nvPicPr>
          <p:cNvPr id="5" name="Picture 4" descr="c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5455" y="0"/>
            <a:ext cx="420624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985455" y="0"/>
            <a:ext cx="73152" cy="6858000"/>
          </a:xfrm>
          <a:prstGeom prst="rect">
            <a:avLst/>
          </a:prstGeom>
          <a:solidFill>
            <a:srgbClr val="21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1B8A6"/>
                </a:solidFill>
                <a:latin typeface="Montserrat"/>
              </a:rPr>
              <a:t>CONCLUSION ET PERSPECTIVES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00584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Montserrat"/>
              </a:rPr>
              <a:t>Bénéfices attendus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3337560" cy="731520"/>
          </a:xfrm>
          <a:prstGeom prst="roundRect">
            <a:avLst>
              <a:gd name="adj" fmla="val 8000"/>
            </a:avLst>
          </a:prstGeom>
          <a:solidFill>
            <a:srgbClr val="1A2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2057400"/>
            <a:ext cx="182880" cy="182880"/>
          </a:xfrm>
          <a:prstGeom prst="ellipse">
            <a:avLst/>
          </a:prstGeom>
          <a:solidFill>
            <a:srgbClr val="21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178308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Meilleure maîtrise des stocks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783080"/>
            <a:ext cx="3337560" cy="731520"/>
          </a:xfrm>
          <a:prstGeom prst="roundRect">
            <a:avLst>
              <a:gd name="adj" fmla="val 8000"/>
            </a:avLst>
          </a:prstGeom>
          <a:solidFill>
            <a:srgbClr val="1A2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34840" y="2057400"/>
            <a:ext cx="182880" cy="182880"/>
          </a:xfrm>
          <a:prstGeom prst="ellipse">
            <a:avLst/>
          </a:prstGeom>
          <a:solidFill>
            <a:srgbClr val="21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178308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Moins de pertes liées aux péremptions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651760"/>
            <a:ext cx="3337560" cy="731520"/>
          </a:xfrm>
          <a:prstGeom prst="roundRect">
            <a:avLst>
              <a:gd name="adj" fmla="val 8000"/>
            </a:avLst>
          </a:prstGeom>
          <a:solidFill>
            <a:srgbClr val="1A2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" y="2926079"/>
            <a:ext cx="182880" cy="182880"/>
          </a:xfrm>
          <a:prstGeom prst="ellipse">
            <a:avLst/>
          </a:prstGeom>
          <a:solidFill>
            <a:srgbClr val="21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265176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Traçabilité renforcée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2651760"/>
            <a:ext cx="3337560" cy="731520"/>
          </a:xfrm>
          <a:prstGeom prst="roundRect">
            <a:avLst>
              <a:gd name="adj" fmla="val 8000"/>
            </a:avLst>
          </a:prstGeom>
          <a:solidFill>
            <a:srgbClr val="1A2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34840" y="2926079"/>
            <a:ext cx="182880" cy="182880"/>
          </a:xfrm>
          <a:prstGeom prst="ellipse">
            <a:avLst/>
          </a:prstGeom>
          <a:solidFill>
            <a:srgbClr val="21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0" y="265176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Suivi rigoureux des livraisons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703320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1B8A6"/>
                </a:solidFill>
                <a:latin typeface="Montserrat"/>
              </a:rPr>
              <a:t>Perspectives d'évolution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069080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9D6EA"/>
                </a:solidFill>
                <a:latin typeface="Calibri"/>
              </a:rPr>
              <a:t>Codes-barres  ·  Notifications automatiques  ·  Intégration aux systèmes existants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846320"/>
            <a:ext cx="6858000" cy="13716"/>
          </a:xfrm>
          <a:prstGeom prst="rect">
            <a:avLst/>
          </a:prstGeom>
          <a:solidFill>
            <a:srgbClr val="2C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02920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Montserrat"/>
              </a:rPr>
              <a:t>Merci pour votre attention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623560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21B8A6"/>
                </a:solidFill>
                <a:latin typeface="Calibri"/>
              </a:rPr>
              <a:t>Questions et échanges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